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287250" cy="8267700"/>
  <p:notesSz cx="8267700" cy="1228725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1248"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1144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Kurv"/>
          <p:cNvPicPr>
            <a:picLocks noChangeAspect="1"/>
          </p:cNvPicPr>
          <p:nvPr/>
        </p:nvPicPr>
        <p:blipFill>
          <a:blip r:embed="rId3"/>
          <a:stretch>
            <a:fillRect/>
          </a:stretch>
        </p:blipFill>
        <p:spPr>
          <a:xfrm>
            <a:off x="666750" y="76200"/>
            <a:ext cx="2524125" cy="800100"/>
          </a:xfrm>
          <a:prstGeom prst="rect">
            <a:avLst/>
          </a:prstGeom>
        </p:spPr>
      </p:pic>
      <p:sp>
        <p:nvSpPr>
          <p:cNvPr id="3" name="Shape 0"/>
          <p:cNvSpPr/>
          <p:nvPr/>
        </p:nvSpPr>
        <p:spPr>
          <a:xfrm>
            <a:off x="666750" y="971550"/>
            <a:ext cx="5143500" cy="0"/>
          </a:xfrm>
          <a:prstGeom prst="line">
            <a:avLst/>
          </a:prstGeom>
          <a:noFill/>
          <a:ln w="12700">
            <a:solidFill>
              <a:srgbClr val="D9DDE2"/>
            </a:solidFill>
            <a:prstDash val="solid"/>
          </a:ln>
        </p:spPr>
        <p:txBody>
          <a:bodyPr/>
          <a:lstStyle/>
          <a:p>
            <a:endParaRPr lang="en-US"/>
          </a:p>
        </p:txBody>
      </p:sp>
      <p:sp>
        <p:nvSpPr>
          <p:cNvPr id="4" name="Text 1"/>
          <p:cNvSpPr txBox="1"/>
          <p:nvPr/>
        </p:nvSpPr>
        <p:spPr>
          <a:xfrm>
            <a:off x="666750" y="1066800"/>
            <a:ext cx="5334000" cy="228600"/>
          </a:xfrm>
          <a:prstGeom prst="rect">
            <a:avLst/>
          </a:prstGeom>
          <a:noFill/>
          <a:ln/>
        </p:spPr>
        <p:txBody>
          <a:bodyPr wrap="square" lIns="0" tIns="0" rIns="0" bIns="0" rtlCol="0" anchor="ctr"/>
          <a:lstStyle/>
          <a:p>
            <a:pPr marL="0" indent="0">
              <a:buNone/>
            </a:pPr>
            <a:r>
              <a:rPr lang="en-US" sz="1300" b="1" dirty="0">
                <a:solidFill>
                  <a:srgbClr val="1F3142"/>
                </a:solidFill>
                <a:latin typeface="Calibri" pitchFamily="34" charset="0"/>
                <a:ea typeface="Calibri" pitchFamily="34" charset="-122"/>
                <a:cs typeface="Calibri" pitchFamily="34" charset="-120"/>
              </a:rPr>
              <a:t>SOLAR &amp; BATTERY OPPORTUNITY</a:t>
            </a:r>
            <a:endParaRPr lang="en-US" sz="1300" dirty="0"/>
          </a:p>
        </p:txBody>
      </p:sp>
      <p:sp>
        <p:nvSpPr>
          <p:cNvPr id="5" name="Text 2"/>
          <p:cNvSpPr txBox="1"/>
          <p:nvPr/>
        </p:nvSpPr>
        <p:spPr>
          <a:xfrm>
            <a:off x="666750" y="1276350"/>
            <a:ext cx="5429250" cy="438150"/>
          </a:xfrm>
          <a:prstGeom prst="rect">
            <a:avLst/>
          </a:prstGeom>
          <a:noFill/>
          <a:ln/>
        </p:spPr>
        <p:txBody>
          <a:bodyPr wrap="square" lIns="0" tIns="0" rIns="0" bIns="0" rtlCol="0" anchor="ctr"/>
          <a:lstStyle/>
          <a:p>
            <a:pPr marL="0" indent="0">
              <a:buNone/>
            </a:pPr>
            <a:r>
              <a:rPr lang="en-US" sz="3000" b="1" dirty="0">
                <a:solidFill>
                  <a:srgbClr val="14202C"/>
                </a:solidFill>
                <a:latin typeface="Calibri" pitchFamily="34" charset="0"/>
                <a:ea typeface="Calibri" pitchFamily="34" charset="-122"/>
                <a:cs typeface="Calibri" pitchFamily="34" charset="-120"/>
              </a:rPr>
              <a:t>Rooftop and Excess Land Income</a:t>
            </a:r>
            <a:endParaRPr lang="en-US" sz="3000" dirty="0"/>
          </a:p>
        </p:txBody>
      </p:sp>
      <p:sp>
        <p:nvSpPr>
          <p:cNvPr id="6" name="Text 3"/>
          <p:cNvSpPr txBox="1"/>
          <p:nvPr/>
        </p:nvSpPr>
        <p:spPr>
          <a:xfrm>
            <a:off x="666750" y="1695450"/>
            <a:ext cx="5334000" cy="171450"/>
          </a:xfrm>
          <a:prstGeom prst="rect">
            <a:avLst/>
          </a:prstGeom>
          <a:noFill/>
          <a:ln/>
        </p:spPr>
        <p:txBody>
          <a:bodyPr wrap="square" lIns="0" tIns="0" rIns="0" bIns="0" rtlCol="0" anchor="ctr"/>
          <a:lstStyle/>
          <a:p>
            <a:pPr marL="0" indent="0">
              <a:buNone/>
            </a:pPr>
            <a:r>
              <a:rPr lang="en-US" sz="1050" i="1" dirty="0">
                <a:solidFill>
                  <a:srgbClr val="59666F"/>
                </a:solidFill>
                <a:latin typeface="Calibri" pitchFamily="34" charset="0"/>
                <a:ea typeface="Calibri" pitchFamily="34" charset="-122"/>
                <a:cs typeface="Calibri" pitchFamily="34" charset="-120"/>
              </a:rPr>
              <a:t>Kurv formerly Bridge </a:t>
            </a:r>
            <a:r>
              <a:rPr lang="en-US" sz="1050" i="1">
                <a:solidFill>
                  <a:srgbClr val="59666F"/>
                </a:solidFill>
                <a:latin typeface="Calibri" pitchFamily="34" charset="0"/>
                <a:ea typeface="Calibri" pitchFamily="34" charset="-122"/>
                <a:cs typeface="Calibri" pitchFamily="34" charset="-120"/>
              </a:rPr>
              <a:t>Investment Group </a:t>
            </a:r>
            <a:r>
              <a:rPr lang="en-US" sz="1050" i="1" dirty="0">
                <a:solidFill>
                  <a:srgbClr val="59666F"/>
                </a:solidFill>
                <a:latin typeface="Calibri" pitchFamily="34" charset="0"/>
                <a:ea typeface="Calibri" pitchFamily="34" charset="-122"/>
                <a:cs typeface="Calibri" pitchFamily="34" charset="-120"/>
              </a:rPr>
              <a:t>portfolio screen</a:t>
            </a:r>
            <a:endParaRPr lang="en-US" sz="1050" dirty="0"/>
          </a:p>
        </p:txBody>
      </p:sp>
      <p:pic>
        <p:nvPicPr>
          <p:cNvPr id="7" name="Image 1" descr="Aerial view of an industrial warehouse with a rooftop solar array"/>
          <p:cNvPicPr>
            <a:picLocks noChangeAspect="1"/>
          </p:cNvPicPr>
          <p:nvPr/>
        </p:nvPicPr>
        <p:blipFill>
          <a:blip r:embed="rId4"/>
          <a:stretch>
            <a:fillRect/>
          </a:stretch>
        </p:blipFill>
        <p:spPr>
          <a:xfrm>
            <a:off x="6191250" y="-9525"/>
            <a:ext cx="6096000" cy="1504950"/>
          </a:xfrm>
          <a:prstGeom prst="rect">
            <a:avLst/>
          </a:prstGeom>
        </p:spPr>
      </p:pic>
      <p:pic>
        <p:nvPicPr>
          <p:cNvPr id="8" name="Image 2" descr="SolarKal 10 years"/>
          <p:cNvPicPr>
            <a:picLocks noChangeAspect="1"/>
          </p:cNvPicPr>
          <p:nvPr/>
        </p:nvPicPr>
        <p:blipFill>
          <a:blip r:embed="rId5"/>
          <a:stretch>
            <a:fillRect/>
          </a:stretch>
        </p:blipFill>
        <p:spPr>
          <a:xfrm>
            <a:off x="10077450" y="-32385"/>
            <a:ext cx="2238375" cy="611505"/>
          </a:xfrm>
          <a:prstGeom prst="rect">
            <a:avLst/>
          </a:prstGeom>
        </p:spPr>
      </p:pic>
      <p:sp>
        <p:nvSpPr>
          <p:cNvPr id="9" name="Banner"/>
          <p:cNvSpPr/>
          <p:nvPr/>
        </p:nvSpPr>
        <p:spPr>
          <a:xfrm>
            <a:off x="200025" y="2133600"/>
            <a:ext cx="11925300" cy="971550"/>
          </a:xfrm>
          <a:prstGeom prst="rect">
            <a:avLst/>
          </a:prstGeom>
          <a:solidFill>
            <a:srgbClr val="233646"/>
          </a:solidFill>
          <a:ln w="12700">
            <a:solidFill>
              <a:srgbClr val="233646"/>
            </a:solidFill>
            <a:prstDash val="solid"/>
          </a:ln>
        </p:spPr>
        <p:txBody>
          <a:bodyPr/>
          <a:lstStyle/>
          <a:p>
            <a:endParaRPr lang="en-US"/>
          </a:p>
        </p:txBody>
      </p:sp>
      <p:sp>
        <p:nvSpPr>
          <p:cNvPr id="10" name="Banner accent"/>
          <p:cNvSpPr/>
          <p:nvPr/>
        </p:nvSpPr>
        <p:spPr>
          <a:xfrm>
            <a:off x="200025" y="2133600"/>
            <a:ext cx="57150" cy="971550"/>
          </a:xfrm>
          <a:prstGeom prst="rect">
            <a:avLst/>
          </a:prstGeom>
          <a:solidFill>
            <a:srgbClr val="F2C200"/>
          </a:solidFill>
          <a:ln w="12700">
            <a:solidFill>
              <a:srgbClr val="F2C200"/>
            </a:solidFill>
            <a:prstDash val="solid"/>
          </a:ln>
        </p:spPr>
        <p:txBody>
          <a:bodyPr/>
          <a:lstStyle/>
          <a:p>
            <a:endParaRPr lang="en-US"/>
          </a:p>
        </p:txBody>
      </p:sp>
      <p:sp>
        <p:nvSpPr>
          <p:cNvPr id="11" name="Text 6"/>
          <p:cNvSpPr txBox="1"/>
          <p:nvPr/>
        </p:nvSpPr>
        <p:spPr>
          <a:xfrm>
            <a:off x="571500" y="2190750"/>
            <a:ext cx="2762250" cy="857250"/>
          </a:xfrm>
          <a:prstGeom prst="rect">
            <a:avLst/>
          </a:prstGeom>
          <a:noFill/>
          <a:ln/>
        </p:spPr>
        <p:txBody>
          <a:bodyPr wrap="square" lIns="0" tIns="0" rIns="0" bIns="0" rtlCol="0" anchor="ctr"/>
          <a:lstStyle/>
          <a:p>
            <a:pPr marL="0" indent="0">
              <a:buNone/>
            </a:pPr>
            <a:r>
              <a:rPr lang="en-US" sz="5100" b="1" dirty="0">
                <a:solidFill>
                  <a:srgbClr val="FFFFFF"/>
                </a:solidFill>
                <a:latin typeface="Calibri" pitchFamily="34" charset="0"/>
                <a:ea typeface="Calibri" pitchFamily="34" charset="-122"/>
                <a:cs typeface="Calibri" pitchFamily="34" charset="-120"/>
              </a:rPr>
              <a:t>$194.4M</a:t>
            </a:r>
            <a:endParaRPr lang="en-US" sz="5100" dirty="0"/>
          </a:p>
        </p:txBody>
      </p:sp>
      <p:sp>
        <p:nvSpPr>
          <p:cNvPr id="12" name="Shape 7"/>
          <p:cNvSpPr/>
          <p:nvPr/>
        </p:nvSpPr>
        <p:spPr>
          <a:xfrm>
            <a:off x="3343275" y="2324100"/>
            <a:ext cx="0" cy="590550"/>
          </a:xfrm>
          <a:prstGeom prst="line">
            <a:avLst/>
          </a:prstGeom>
          <a:noFill/>
          <a:ln w="12700">
            <a:solidFill>
              <a:srgbClr val="5B6B79"/>
            </a:solidFill>
            <a:prstDash val="solid"/>
          </a:ln>
        </p:spPr>
        <p:txBody>
          <a:bodyPr/>
          <a:lstStyle/>
          <a:p>
            <a:endParaRPr lang="en-US"/>
          </a:p>
        </p:txBody>
      </p:sp>
      <p:sp>
        <p:nvSpPr>
          <p:cNvPr id="13" name="Text 8"/>
          <p:cNvSpPr txBox="1"/>
          <p:nvPr/>
        </p:nvSpPr>
        <p:spPr>
          <a:xfrm>
            <a:off x="3533775" y="2286000"/>
            <a:ext cx="3429000" cy="66675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ILLUSTRATIVE INCREMENTAL ASSET VALUE</a:t>
            </a:r>
            <a:endParaRPr lang="en-US" sz="1500" dirty="0"/>
          </a:p>
        </p:txBody>
      </p:sp>
      <p:sp>
        <p:nvSpPr>
          <p:cNvPr id="14" name="Shape 9"/>
          <p:cNvSpPr/>
          <p:nvPr/>
        </p:nvSpPr>
        <p:spPr>
          <a:xfrm>
            <a:off x="7296150" y="2324100"/>
            <a:ext cx="0" cy="590550"/>
          </a:xfrm>
          <a:prstGeom prst="line">
            <a:avLst/>
          </a:prstGeom>
          <a:noFill/>
          <a:ln w="12700">
            <a:solidFill>
              <a:srgbClr val="5B6B79"/>
            </a:solidFill>
            <a:prstDash val="solid"/>
          </a:ln>
        </p:spPr>
        <p:txBody>
          <a:bodyPr/>
          <a:lstStyle/>
          <a:p>
            <a:endParaRPr lang="en-US"/>
          </a:p>
        </p:txBody>
      </p:sp>
      <p:sp>
        <p:nvSpPr>
          <p:cNvPr id="15" name="Text 10"/>
          <p:cNvSpPr txBox="1"/>
          <p:nvPr/>
        </p:nvSpPr>
        <p:spPr>
          <a:xfrm>
            <a:off x="7505700" y="2266950"/>
            <a:ext cx="4476750" cy="3429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$11,665,000 portfolio annual income ÷ 6.0% cap rate</a:t>
            </a:r>
            <a:endParaRPr lang="en-US" sz="1400" dirty="0"/>
          </a:p>
        </p:txBody>
      </p:sp>
      <p:sp>
        <p:nvSpPr>
          <p:cNvPr id="16" name="Text 11"/>
          <p:cNvSpPr txBox="1"/>
          <p:nvPr/>
        </p:nvSpPr>
        <p:spPr>
          <a:xfrm>
            <a:off x="7505700" y="2609850"/>
            <a:ext cx="4476750" cy="342900"/>
          </a:xfrm>
          <a:prstGeom prst="rect">
            <a:avLst/>
          </a:prstGeom>
          <a:noFill/>
          <a:ln/>
        </p:spPr>
        <p:txBody>
          <a:bodyPr wrap="square" lIns="0" tIns="0" rIns="0" bIns="0" rtlCol="0" anchor="t"/>
          <a:lstStyle/>
          <a:p>
            <a:pPr marL="0" indent="0">
              <a:buNone/>
            </a:pPr>
            <a:r>
              <a:rPr lang="en-US" sz="1000" b="1" dirty="0">
                <a:solidFill>
                  <a:srgbClr val="E4E9EE"/>
                </a:solidFill>
                <a:latin typeface="Calibri" pitchFamily="34" charset="0"/>
                <a:ea typeface="Calibri" pitchFamily="34" charset="-122"/>
                <a:cs typeface="Calibri" pitchFamily="34" charset="-120"/>
              </a:rPr>
              <a:t>Potential roof lease (solar) and ground lease (BESS) revenue without upfront owner CAPEX</a:t>
            </a:r>
            <a:endParaRPr lang="en-US" sz="1000" dirty="0"/>
          </a:p>
        </p:txBody>
      </p:sp>
      <p:sp>
        <p:nvSpPr>
          <p:cNvPr id="17" name="Text 12"/>
          <p:cNvSpPr txBox="1"/>
          <p:nvPr/>
        </p:nvSpPr>
        <p:spPr>
          <a:xfrm>
            <a:off x="238125" y="3295650"/>
            <a:ext cx="5715000" cy="228600"/>
          </a:xfrm>
          <a:prstGeom prst="rect">
            <a:avLst/>
          </a:prstGeom>
          <a:noFill/>
          <a:ln/>
        </p:spPr>
        <p:txBody>
          <a:bodyPr wrap="square" lIns="0" tIns="0" rIns="0" bIns="0" rtlCol="0" anchor="ctr"/>
          <a:lstStyle/>
          <a:p>
            <a:pPr marL="0" indent="0">
              <a:buNone/>
            </a:pPr>
            <a:r>
              <a:rPr lang="en-US" sz="1200" b="1" dirty="0">
                <a:solidFill>
                  <a:srgbClr val="14202C"/>
                </a:solidFill>
                <a:latin typeface="Calibri" pitchFamily="34" charset="0"/>
                <a:ea typeface="Calibri" pitchFamily="34" charset="-122"/>
                <a:cs typeface="Calibri" pitchFamily="34" charset="-120"/>
              </a:rPr>
              <a:t>PORTFOLIO AT A GLANCE</a:t>
            </a:r>
            <a:endParaRPr lang="en-US" sz="1200" dirty="0"/>
          </a:p>
        </p:txBody>
      </p:sp>
      <p:sp>
        <p:nvSpPr>
          <p:cNvPr id="18" name="Shape 13"/>
          <p:cNvSpPr/>
          <p:nvPr/>
        </p:nvSpPr>
        <p:spPr>
          <a:xfrm>
            <a:off x="238125" y="3543300"/>
            <a:ext cx="6972300" cy="0"/>
          </a:xfrm>
          <a:prstGeom prst="line">
            <a:avLst/>
          </a:prstGeom>
          <a:noFill/>
          <a:ln w="12700">
            <a:solidFill>
              <a:srgbClr val="D9DDE2"/>
            </a:solidFill>
            <a:prstDash val="solid"/>
          </a:ln>
        </p:spPr>
        <p:txBody>
          <a:bodyPr/>
          <a:lstStyle/>
          <a:p>
            <a:endParaRPr lang="en-US"/>
          </a:p>
        </p:txBody>
      </p:sp>
      <p:sp>
        <p:nvSpPr>
          <p:cNvPr id="19" name="Text 14"/>
          <p:cNvSpPr txBox="1"/>
          <p:nvPr/>
        </p:nvSpPr>
        <p:spPr>
          <a:xfrm>
            <a:off x="238125" y="3600450"/>
            <a:ext cx="2324100" cy="419100"/>
          </a:xfrm>
          <a:prstGeom prst="rect">
            <a:avLst/>
          </a:prstGeom>
          <a:noFill/>
          <a:ln/>
        </p:spPr>
        <p:txBody>
          <a:bodyPr wrap="square" lIns="0" tIns="0" rIns="0" bIns="0" rtlCol="0" anchor="ctr"/>
          <a:lstStyle/>
          <a:p>
            <a:pPr marL="0" indent="0" algn="ctr">
              <a:buNone/>
            </a:pPr>
            <a:r>
              <a:rPr lang="en-US" sz="3000" b="1" dirty="0">
                <a:solidFill>
                  <a:srgbClr val="14202C"/>
                </a:solidFill>
                <a:latin typeface="Calibri" pitchFamily="34" charset="0"/>
                <a:ea typeface="Calibri" pitchFamily="34" charset="-122"/>
                <a:cs typeface="Calibri" pitchFamily="34" charset="-120"/>
              </a:rPr>
              <a:t>31</a:t>
            </a:r>
            <a:endParaRPr lang="en-US" sz="3000" dirty="0"/>
          </a:p>
        </p:txBody>
      </p:sp>
      <p:sp>
        <p:nvSpPr>
          <p:cNvPr id="20" name="Text 15"/>
          <p:cNvSpPr txBox="1"/>
          <p:nvPr/>
        </p:nvSpPr>
        <p:spPr>
          <a:xfrm>
            <a:off x="238125" y="4019550"/>
            <a:ext cx="2324100" cy="190500"/>
          </a:xfrm>
          <a:prstGeom prst="rect">
            <a:avLst/>
          </a:prstGeom>
          <a:noFill/>
          <a:ln/>
        </p:spPr>
        <p:txBody>
          <a:bodyPr wrap="square" lIns="0" tIns="0" rIns="0" bIns="0" rtlCol="0" anchor="ctr"/>
          <a:lstStyle/>
          <a:p>
            <a:pPr marL="0" indent="0" algn="ctr">
              <a:buNone/>
            </a:pPr>
            <a:r>
              <a:rPr lang="en-US" sz="1050" dirty="0">
                <a:solidFill>
                  <a:srgbClr val="59666F"/>
                </a:solidFill>
                <a:latin typeface="Calibri" pitchFamily="34" charset="0"/>
                <a:ea typeface="Calibri" pitchFamily="34" charset="-122"/>
                <a:cs typeface="Calibri" pitchFamily="34" charset="-120"/>
              </a:rPr>
              <a:t>properties modeled</a:t>
            </a:r>
            <a:endParaRPr lang="en-US" sz="1050" dirty="0"/>
          </a:p>
        </p:txBody>
      </p:sp>
      <p:sp>
        <p:nvSpPr>
          <p:cNvPr id="21" name="Text 16"/>
          <p:cNvSpPr txBox="1"/>
          <p:nvPr/>
        </p:nvSpPr>
        <p:spPr>
          <a:xfrm>
            <a:off x="2562225" y="3600450"/>
            <a:ext cx="2324100" cy="419100"/>
          </a:xfrm>
          <a:prstGeom prst="rect">
            <a:avLst/>
          </a:prstGeom>
          <a:noFill/>
          <a:ln/>
        </p:spPr>
        <p:txBody>
          <a:bodyPr wrap="square" lIns="0" tIns="0" rIns="0" bIns="0" rtlCol="0" anchor="ctr"/>
          <a:lstStyle/>
          <a:p>
            <a:pPr marL="0" indent="0" algn="ctr">
              <a:buNone/>
            </a:pPr>
            <a:r>
              <a:rPr lang="en-US" sz="3000" b="1" dirty="0">
                <a:solidFill>
                  <a:srgbClr val="14202C"/>
                </a:solidFill>
                <a:latin typeface="Calibri" pitchFamily="34" charset="0"/>
                <a:ea typeface="Calibri" pitchFamily="34" charset="-122"/>
                <a:cs typeface="Calibri" pitchFamily="34" charset="-120"/>
              </a:rPr>
              <a:t>13.71M</a:t>
            </a:r>
            <a:endParaRPr lang="en-US" sz="3000" dirty="0"/>
          </a:p>
        </p:txBody>
      </p:sp>
      <p:sp>
        <p:nvSpPr>
          <p:cNvPr id="22" name="Text 17"/>
          <p:cNvSpPr txBox="1"/>
          <p:nvPr/>
        </p:nvSpPr>
        <p:spPr>
          <a:xfrm>
            <a:off x="2562225" y="4019550"/>
            <a:ext cx="2324100" cy="190500"/>
          </a:xfrm>
          <a:prstGeom prst="rect">
            <a:avLst/>
          </a:prstGeom>
          <a:noFill/>
          <a:ln/>
        </p:spPr>
        <p:txBody>
          <a:bodyPr wrap="square" lIns="0" tIns="0" rIns="0" bIns="0" rtlCol="0" anchor="ctr"/>
          <a:lstStyle/>
          <a:p>
            <a:pPr marL="0" indent="0" algn="ctr">
              <a:buNone/>
            </a:pPr>
            <a:r>
              <a:rPr lang="en-US" sz="1050" dirty="0">
                <a:solidFill>
                  <a:srgbClr val="59666F"/>
                </a:solidFill>
                <a:latin typeface="Calibri" pitchFamily="34" charset="0"/>
                <a:ea typeface="Calibri" pitchFamily="34" charset="-122"/>
                <a:cs typeface="Calibri" pitchFamily="34" charset="-120"/>
              </a:rPr>
              <a:t>sq ft GLA</a:t>
            </a:r>
            <a:endParaRPr lang="en-US" sz="1050" dirty="0"/>
          </a:p>
        </p:txBody>
      </p:sp>
      <p:sp>
        <p:nvSpPr>
          <p:cNvPr id="23" name="Text 18"/>
          <p:cNvSpPr txBox="1"/>
          <p:nvPr/>
        </p:nvSpPr>
        <p:spPr>
          <a:xfrm>
            <a:off x="4886325" y="3600450"/>
            <a:ext cx="2324100" cy="419100"/>
          </a:xfrm>
          <a:prstGeom prst="rect">
            <a:avLst/>
          </a:prstGeom>
          <a:noFill/>
          <a:ln/>
        </p:spPr>
        <p:txBody>
          <a:bodyPr wrap="square" lIns="0" tIns="0" rIns="0" bIns="0" rtlCol="0" anchor="ctr"/>
          <a:lstStyle/>
          <a:p>
            <a:pPr marL="0" indent="0" algn="ctr">
              <a:buNone/>
            </a:pPr>
            <a:r>
              <a:rPr lang="en-US" sz="3000" b="1" dirty="0">
                <a:solidFill>
                  <a:srgbClr val="14202C"/>
                </a:solidFill>
                <a:latin typeface="Calibri" pitchFamily="34" charset="0"/>
                <a:ea typeface="Calibri" pitchFamily="34" charset="-122"/>
                <a:cs typeface="Calibri" pitchFamily="34" charset="-120"/>
              </a:rPr>
              <a:t>2</a:t>
            </a:r>
            <a:endParaRPr lang="en-US" sz="3000" dirty="0"/>
          </a:p>
        </p:txBody>
      </p:sp>
      <p:sp>
        <p:nvSpPr>
          <p:cNvPr id="24" name="Text 19"/>
          <p:cNvSpPr txBox="1"/>
          <p:nvPr/>
        </p:nvSpPr>
        <p:spPr>
          <a:xfrm>
            <a:off x="4886325" y="4019550"/>
            <a:ext cx="2324100" cy="190500"/>
          </a:xfrm>
          <a:prstGeom prst="rect">
            <a:avLst/>
          </a:prstGeom>
          <a:noFill/>
          <a:ln/>
        </p:spPr>
        <p:txBody>
          <a:bodyPr wrap="square" lIns="0" tIns="0" rIns="0" bIns="0" rtlCol="0" anchor="ctr"/>
          <a:lstStyle/>
          <a:p>
            <a:pPr marL="0" indent="0" algn="ctr">
              <a:buNone/>
            </a:pPr>
            <a:r>
              <a:rPr lang="en-US" sz="1050" dirty="0">
                <a:solidFill>
                  <a:srgbClr val="59666F"/>
                </a:solidFill>
                <a:latin typeface="Calibri" pitchFamily="34" charset="0"/>
                <a:ea typeface="Calibri" pitchFamily="34" charset="-122"/>
                <a:cs typeface="Calibri" pitchFamily="34" charset="-120"/>
              </a:rPr>
              <a:t>states</a:t>
            </a:r>
            <a:endParaRPr lang="en-US" sz="1050" dirty="0"/>
          </a:p>
        </p:txBody>
      </p:sp>
      <p:graphicFrame>
        <p:nvGraphicFramePr>
          <p:cNvPr id="25" name="Property table"/>
          <p:cNvGraphicFramePr>
            <a:graphicFrameLocks noGrp="1"/>
          </p:cNvGraphicFramePr>
          <p:nvPr>
            <p:extLst>
              <p:ext uri="{D42A27DB-BD31-4B8C-83A1-F6EECF244321}">
                <p14:modId xmlns:p14="http://schemas.microsoft.com/office/powerpoint/2010/main" val="1579011935"/>
              </p:ext>
            </p:extLst>
          </p:nvPr>
        </p:nvGraphicFramePr>
        <p:xfrm>
          <a:off x="238125" y="4305300"/>
          <a:ext cx="6972300" cy="2120265"/>
        </p:xfrm>
        <a:graphic>
          <a:graphicData uri="http://schemas.openxmlformats.org/drawingml/2006/table">
            <a:tbl>
              <a:tblPr/>
              <a:tblGrid>
                <a:gridCol w="3429000">
                  <a:extLst>
                    <a:ext uri="{9D8B030D-6E8A-4147-A177-3AD203B41FA5}">
                      <a16:colId xmlns:a16="http://schemas.microsoft.com/office/drawing/2014/main" val="20000"/>
                    </a:ext>
                  </a:extLst>
                </a:gridCol>
                <a:gridCol w="8001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0480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TOP 7 PROPERTIES BY ANNUAL VALUE</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23364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GLA (SF)</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23364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SOLAR</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23364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BESS</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23364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ANNUAL TOTAL</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233646"/>
                    </a:solidFill>
                  </a:tcPr>
                </a:tc>
                <a:extLst>
                  <a:ext uri="{0D108BD9-81ED-4DB2-BD59-A6C34878D82A}">
                    <a16:rowId xmlns:a16="http://schemas.microsoft.com/office/drawing/2014/main" val="10000"/>
                  </a:ext>
                </a:extLst>
              </a:tr>
              <a:tr h="219075">
                <a:tc>
                  <a:txBody>
                    <a:bodyPr/>
                    <a:lstStyle/>
                    <a:p>
                      <a:pPr marL="0" indent="0" algn="l">
                        <a:buNone/>
                      </a:pPr>
                      <a:r>
                        <a:rPr lang="en-US" sz="1050" dirty="0">
                          <a:solidFill>
                            <a:srgbClr val="14202C"/>
                          </a:solidFill>
                          <a:latin typeface="Calibri" pitchFamily="34" charset="0"/>
                          <a:ea typeface="Calibri" pitchFamily="34" charset="-122"/>
                          <a:cs typeface="Calibri" pitchFamily="34" charset="-120"/>
                        </a:rPr>
                        <a:t>Kurv Somerset · NJ</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1,243,982</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$1,197,000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$100,000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$1,297,000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extLst>
                  <a:ext uri="{0D108BD9-81ED-4DB2-BD59-A6C34878D82A}">
                    <a16:rowId xmlns:a16="http://schemas.microsoft.com/office/drawing/2014/main" val="10001"/>
                  </a:ext>
                </a:extLst>
              </a:tr>
              <a:tr h="219075">
                <a:tc>
                  <a:txBody>
                    <a:bodyPr/>
                    <a:lstStyle/>
                    <a:p>
                      <a:pPr marL="0" indent="0" algn="l">
                        <a:buNone/>
                      </a:pPr>
                      <a:r>
                        <a:rPr lang="en-US" sz="1050" dirty="0">
                          <a:solidFill>
                            <a:srgbClr val="14202C"/>
                          </a:solidFill>
                          <a:latin typeface="Calibri" pitchFamily="34" charset="0"/>
                          <a:ea typeface="Calibri" pitchFamily="34" charset="-122"/>
                          <a:cs typeface="Calibri" pitchFamily="34" charset="-120"/>
                        </a:rPr>
                        <a:t>Kurv Perth Amboy II · NJ</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1,094,676</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$1,053,500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$100,000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$1,153,500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extLst>
                  <a:ext uri="{0D108BD9-81ED-4DB2-BD59-A6C34878D82A}">
                    <a16:rowId xmlns:a16="http://schemas.microsoft.com/office/drawing/2014/main" val="10002"/>
                  </a:ext>
                </a:extLst>
              </a:tr>
              <a:tr h="219075">
                <a:tc>
                  <a:txBody>
                    <a:bodyPr/>
                    <a:lstStyle/>
                    <a:p>
                      <a:pPr marL="0" indent="0" algn="l">
                        <a:buNone/>
                      </a:pPr>
                      <a:r>
                        <a:rPr lang="en-US" sz="1050" dirty="0">
                          <a:solidFill>
                            <a:srgbClr val="14202C"/>
                          </a:solidFill>
                          <a:latin typeface="Calibri" pitchFamily="34" charset="0"/>
                          <a:ea typeface="Calibri" pitchFamily="34" charset="-122"/>
                          <a:cs typeface="Calibri" pitchFamily="34" charset="-120"/>
                        </a:rPr>
                        <a:t>Kurv Bridge Point 78 Phase II · NJ</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1,235,513</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$757,000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$100,000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$857,000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extLst>
                  <a:ext uri="{0D108BD9-81ED-4DB2-BD59-A6C34878D82A}">
                    <a16:rowId xmlns:a16="http://schemas.microsoft.com/office/drawing/2014/main" val="10003"/>
                  </a:ext>
                </a:extLst>
              </a:tr>
              <a:tr h="219075">
                <a:tc>
                  <a:txBody>
                    <a:bodyPr/>
                    <a:lstStyle/>
                    <a:p>
                      <a:pPr marL="0" indent="0" algn="l">
                        <a:buNone/>
                      </a:pPr>
                      <a:r>
                        <a:rPr lang="en-US" sz="1050" dirty="0">
                          <a:solidFill>
                            <a:srgbClr val="14202C"/>
                          </a:solidFill>
                          <a:latin typeface="Calibri" pitchFamily="34" charset="0"/>
                          <a:ea typeface="Calibri" pitchFamily="34" charset="-122"/>
                          <a:cs typeface="Calibri" pitchFamily="34" charset="-120"/>
                        </a:rPr>
                        <a:t>Kurv Melrose Park · IL</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1,557,680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$613,500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$100,000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$713,500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extLst>
                  <a:ext uri="{0D108BD9-81ED-4DB2-BD59-A6C34878D82A}">
                    <a16:rowId xmlns:a16="http://schemas.microsoft.com/office/drawing/2014/main" val="10004"/>
                  </a:ext>
                </a:extLst>
              </a:tr>
              <a:tr h="219075">
                <a:tc>
                  <a:txBody>
                    <a:bodyPr/>
                    <a:lstStyle/>
                    <a:p>
                      <a:pPr marL="0" indent="0" algn="l">
                        <a:buNone/>
                      </a:pPr>
                      <a:r>
                        <a:rPr lang="en-US" sz="1050" dirty="0">
                          <a:solidFill>
                            <a:srgbClr val="14202C"/>
                          </a:solidFill>
                          <a:latin typeface="Calibri" pitchFamily="34" charset="0"/>
                          <a:ea typeface="Calibri" pitchFamily="34" charset="-122"/>
                          <a:cs typeface="Calibri" pitchFamily="34" charset="-120"/>
                        </a:rPr>
                        <a:t>Kurv McCook · IL</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1,193,232</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$470,000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$100,000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$570,000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extLst>
                  <a:ext uri="{0D108BD9-81ED-4DB2-BD59-A6C34878D82A}">
                    <a16:rowId xmlns:a16="http://schemas.microsoft.com/office/drawing/2014/main" val="10005"/>
                  </a:ext>
                </a:extLst>
              </a:tr>
              <a:tr h="219075">
                <a:tc>
                  <a:txBody>
                    <a:bodyPr/>
                    <a:lstStyle/>
                    <a:p>
                      <a:pPr marL="0" indent="0" algn="l">
                        <a:buNone/>
                      </a:pPr>
                      <a:r>
                        <a:rPr lang="en-US" sz="1050" dirty="0">
                          <a:solidFill>
                            <a:srgbClr val="14202C"/>
                          </a:solidFill>
                          <a:latin typeface="Calibri" pitchFamily="34" charset="0"/>
                          <a:ea typeface="Calibri" pitchFamily="34" charset="-122"/>
                          <a:cs typeface="Calibri" pitchFamily="34" charset="-120"/>
                        </a:rPr>
                        <a:t>Kurv Perth Amboy III · NJ</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471,231</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$453,500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$100,000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$553,500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extLst>
                  <a:ext uri="{0D108BD9-81ED-4DB2-BD59-A6C34878D82A}">
                    <a16:rowId xmlns:a16="http://schemas.microsoft.com/office/drawing/2014/main" val="10006"/>
                  </a:ext>
                </a:extLst>
              </a:tr>
              <a:tr h="219075">
                <a:tc>
                  <a:txBody>
                    <a:bodyPr/>
                    <a:lstStyle/>
                    <a:p>
                      <a:pPr marL="0" indent="0" algn="l">
                        <a:buNone/>
                      </a:pPr>
                      <a:r>
                        <a:rPr lang="en-US" sz="1050" dirty="0">
                          <a:solidFill>
                            <a:srgbClr val="14202C"/>
                          </a:solidFill>
                          <a:latin typeface="Calibri" pitchFamily="34" charset="0"/>
                          <a:ea typeface="Calibri" pitchFamily="34" charset="-122"/>
                          <a:cs typeface="Calibri" pitchFamily="34" charset="-120"/>
                        </a:rPr>
                        <a:t>Kurv Fountain Square · IL</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965,751</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$380,500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$100,000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tc>
                  <a:txBody>
                    <a:bodyPr/>
                    <a:lstStyle/>
                    <a:p>
                      <a:pPr marL="0" indent="0" algn="ctr">
                        <a:buNone/>
                      </a:pPr>
                      <a:r>
                        <a:rPr lang="en-US" sz="1050" dirty="0">
                          <a:solidFill>
                            <a:srgbClr val="14202C"/>
                          </a:solidFill>
                          <a:latin typeface="Calibri" pitchFamily="34" charset="0"/>
                          <a:ea typeface="Calibri" pitchFamily="34" charset="-122"/>
                          <a:cs typeface="Calibri" pitchFamily="34" charset="-120"/>
                        </a:rPr>
                        <a:t>$480,500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E8E9EE"/>
                    </a:solidFill>
                  </a:tcPr>
                </a:tc>
                <a:extLst>
                  <a:ext uri="{0D108BD9-81ED-4DB2-BD59-A6C34878D82A}">
                    <a16:rowId xmlns:a16="http://schemas.microsoft.com/office/drawing/2014/main" val="10007"/>
                  </a:ext>
                </a:extLst>
              </a:tr>
              <a:tr h="26670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PORTFOLIO TOTAL (ALL 31 PROPERTIES)</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23364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13,711,249</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23364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$8,565,000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23364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$3,100,000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233646"/>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$11,665,000</a:t>
                      </a:r>
                      <a:endParaRPr lang="en-US" sz="1050" dirty="0">
                        <a:latin typeface="Calibri" charset="0"/>
                        <a:ea typeface="Calibri" charset="0"/>
                        <a:cs typeface="Calibri" charset="0"/>
                      </a:endParaRPr>
                    </a:p>
                  </a:txBody>
                  <a:tcPr marL="54864" marR="0" marT="0" marB="0" anchor="ctr">
                    <a:lnL w="0" cap="flat" cmpd="sng" algn="ctr">
                      <a:noFill/>
                    </a:lnL>
                    <a:lnR w="0" cap="flat" cmpd="sng" algn="ctr">
                      <a:noFill/>
                    </a:lnR>
                    <a:lnT w="0" cap="flat" cmpd="sng" algn="ctr">
                      <a:noFill/>
                    </a:lnT>
                    <a:lnB w="0" cap="flat" cmpd="sng" algn="ctr">
                      <a:noFill/>
                    </a:lnB>
                    <a:solidFill>
                      <a:srgbClr val="233646"/>
                    </a:solidFill>
                  </a:tcPr>
                </a:tc>
                <a:extLst>
                  <a:ext uri="{0D108BD9-81ED-4DB2-BD59-A6C34878D82A}">
                    <a16:rowId xmlns:a16="http://schemas.microsoft.com/office/drawing/2014/main" val="10008"/>
                  </a:ext>
                </a:extLst>
              </a:tr>
            </a:tbl>
          </a:graphicData>
        </a:graphic>
      </p:graphicFrame>
      <p:sp>
        <p:nvSpPr>
          <p:cNvPr id="26" name="Text 20"/>
          <p:cNvSpPr txBox="1"/>
          <p:nvPr/>
        </p:nvSpPr>
        <p:spPr>
          <a:xfrm>
            <a:off x="7458075" y="3295650"/>
            <a:ext cx="4667250" cy="228600"/>
          </a:xfrm>
          <a:prstGeom prst="rect">
            <a:avLst/>
          </a:prstGeom>
          <a:noFill/>
          <a:ln/>
        </p:spPr>
        <p:txBody>
          <a:bodyPr wrap="square" lIns="0" tIns="0" rIns="0" bIns="0" rtlCol="0" anchor="ctr"/>
          <a:lstStyle/>
          <a:p>
            <a:pPr marL="0" indent="0">
              <a:buNone/>
            </a:pPr>
            <a:r>
              <a:rPr lang="en-US" sz="1200" b="1" dirty="0">
                <a:solidFill>
                  <a:srgbClr val="14202C"/>
                </a:solidFill>
                <a:latin typeface="Calibri" pitchFamily="34" charset="0"/>
                <a:ea typeface="Calibri" pitchFamily="34" charset="-122"/>
                <a:cs typeface="Calibri" pitchFamily="34" charset="-120"/>
              </a:rPr>
              <a:t>PROJECTED PORTFOLIO ANNUAL INCOME</a:t>
            </a:r>
            <a:endParaRPr lang="en-US" sz="1200" dirty="0"/>
          </a:p>
        </p:txBody>
      </p:sp>
      <p:sp>
        <p:nvSpPr>
          <p:cNvPr id="27" name="Text 21"/>
          <p:cNvSpPr txBox="1"/>
          <p:nvPr/>
        </p:nvSpPr>
        <p:spPr>
          <a:xfrm>
            <a:off x="7458075" y="3543300"/>
            <a:ext cx="4667250" cy="533400"/>
          </a:xfrm>
          <a:prstGeom prst="rect">
            <a:avLst/>
          </a:prstGeom>
          <a:noFill/>
          <a:ln/>
        </p:spPr>
        <p:txBody>
          <a:bodyPr wrap="square" lIns="0" tIns="0" rIns="0" bIns="0" rtlCol="0" anchor="ctr"/>
          <a:lstStyle/>
          <a:p>
            <a:pPr marL="0" indent="0">
              <a:buNone/>
            </a:pPr>
            <a:r>
              <a:rPr lang="en-US" sz="3200" b="1" dirty="0">
                <a:solidFill>
                  <a:srgbClr val="14202C"/>
                </a:solidFill>
                <a:latin typeface="Calibri" pitchFamily="34" charset="0"/>
                <a:ea typeface="Calibri" pitchFamily="34" charset="-122"/>
                <a:cs typeface="Calibri" pitchFamily="34" charset="-120"/>
              </a:rPr>
              <a:t>$11.7M</a:t>
            </a:r>
            <a:endParaRPr lang="en-US" sz="3200" dirty="0"/>
          </a:p>
        </p:txBody>
      </p:sp>
      <p:sp>
        <p:nvSpPr>
          <p:cNvPr id="28" name="Text 22"/>
          <p:cNvSpPr txBox="1"/>
          <p:nvPr/>
        </p:nvSpPr>
        <p:spPr>
          <a:xfrm>
            <a:off x="7458075" y="4095750"/>
            <a:ext cx="2286000" cy="171450"/>
          </a:xfrm>
          <a:prstGeom prst="rect">
            <a:avLst/>
          </a:prstGeom>
          <a:noFill/>
          <a:ln/>
        </p:spPr>
        <p:txBody>
          <a:bodyPr wrap="square" lIns="0" tIns="0" rIns="0" bIns="0" rtlCol="0" anchor="ctr"/>
          <a:lstStyle/>
          <a:p>
            <a:pPr marL="0" indent="0">
              <a:buNone/>
            </a:pPr>
            <a:r>
              <a:rPr lang="en-US" sz="1000" b="1" dirty="0">
                <a:solidFill>
                  <a:srgbClr val="14202C"/>
                </a:solidFill>
                <a:latin typeface="Calibri" pitchFamily="34" charset="0"/>
                <a:ea typeface="Calibri" pitchFamily="34" charset="-122"/>
                <a:cs typeface="Calibri" pitchFamily="34" charset="-120"/>
              </a:rPr>
              <a:t>Solar $8.6M</a:t>
            </a:r>
            <a:endParaRPr lang="en-US" sz="1000" dirty="0"/>
          </a:p>
        </p:txBody>
      </p:sp>
      <p:sp>
        <p:nvSpPr>
          <p:cNvPr id="29" name="Text 23"/>
          <p:cNvSpPr txBox="1"/>
          <p:nvPr/>
        </p:nvSpPr>
        <p:spPr>
          <a:xfrm>
            <a:off x="10220325" y="4095750"/>
            <a:ext cx="1905000" cy="171450"/>
          </a:xfrm>
          <a:prstGeom prst="rect">
            <a:avLst/>
          </a:prstGeom>
          <a:noFill/>
          <a:ln/>
        </p:spPr>
        <p:txBody>
          <a:bodyPr wrap="square" lIns="0" tIns="0" rIns="0" bIns="0" rtlCol="0" anchor="ctr"/>
          <a:lstStyle/>
          <a:p>
            <a:pPr marL="0" indent="0" algn="r">
              <a:buNone/>
            </a:pPr>
            <a:r>
              <a:rPr lang="en-US" sz="1000" b="1" dirty="0">
                <a:solidFill>
                  <a:srgbClr val="14202C"/>
                </a:solidFill>
                <a:latin typeface="Calibri" pitchFamily="34" charset="0"/>
                <a:ea typeface="Calibri" pitchFamily="34" charset="-122"/>
                <a:cs typeface="Calibri" pitchFamily="34" charset="-120"/>
              </a:rPr>
              <a:t>BESS $3.1M</a:t>
            </a:r>
            <a:endParaRPr lang="en-US" sz="1000" dirty="0"/>
          </a:p>
        </p:txBody>
      </p:sp>
      <p:sp>
        <p:nvSpPr>
          <p:cNvPr id="30" name="Solar bar"/>
          <p:cNvSpPr/>
          <p:nvPr/>
        </p:nvSpPr>
        <p:spPr>
          <a:xfrm>
            <a:off x="7458075" y="4305300"/>
            <a:ext cx="3426695" cy="76200"/>
          </a:xfrm>
          <a:prstGeom prst="rect">
            <a:avLst/>
          </a:prstGeom>
          <a:solidFill>
            <a:srgbClr val="233646"/>
          </a:solidFill>
          <a:ln w="12700">
            <a:solidFill>
              <a:srgbClr val="233646"/>
            </a:solidFill>
            <a:prstDash val="solid"/>
          </a:ln>
        </p:spPr>
        <p:txBody>
          <a:bodyPr/>
          <a:lstStyle/>
          <a:p>
            <a:endParaRPr lang="en-US"/>
          </a:p>
        </p:txBody>
      </p:sp>
      <p:sp>
        <p:nvSpPr>
          <p:cNvPr id="31" name="BESS bar"/>
          <p:cNvSpPr/>
          <p:nvPr/>
        </p:nvSpPr>
        <p:spPr>
          <a:xfrm>
            <a:off x="10884770" y="4305300"/>
            <a:ext cx="1240555" cy="76200"/>
          </a:xfrm>
          <a:prstGeom prst="rect">
            <a:avLst/>
          </a:prstGeom>
          <a:solidFill>
            <a:srgbClr val="B9D6EE"/>
          </a:solidFill>
          <a:ln w="12700">
            <a:solidFill>
              <a:srgbClr val="B9D6EE"/>
            </a:solidFill>
            <a:prstDash val="solid"/>
          </a:ln>
        </p:spPr>
        <p:txBody>
          <a:bodyPr/>
          <a:lstStyle/>
          <a:p>
            <a:endParaRPr lang="en-US"/>
          </a:p>
        </p:txBody>
      </p:sp>
      <p:sp>
        <p:nvSpPr>
          <p:cNvPr id="32" name="Text 26"/>
          <p:cNvSpPr txBox="1"/>
          <p:nvPr/>
        </p:nvSpPr>
        <p:spPr>
          <a:xfrm>
            <a:off x="7458075" y="4552950"/>
            <a:ext cx="4667250" cy="209550"/>
          </a:xfrm>
          <a:prstGeom prst="rect">
            <a:avLst/>
          </a:prstGeom>
          <a:noFill/>
          <a:ln/>
        </p:spPr>
        <p:txBody>
          <a:bodyPr wrap="square" lIns="0" tIns="0" rIns="0" bIns="0" rtlCol="0" anchor="ctr"/>
          <a:lstStyle/>
          <a:p>
            <a:pPr marL="0" indent="0">
              <a:buNone/>
            </a:pPr>
            <a:r>
              <a:rPr lang="en-US" sz="1200" b="1" dirty="0">
                <a:solidFill>
                  <a:srgbClr val="14202C"/>
                </a:solidFill>
                <a:latin typeface="Calibri" pitchFamily="34" charset="0"/>
                <a:ea typeface="Calibri" pitchFamily="34" charset="-122"/>
                <a:cs typeface="Calibri" pitchFamily="34" charset="-120"/>
              </a:rPr>
              <a:t>CAP-RATE SENSITIVITY</a:t>
            </a:r>
            <a:endParaRPr lang="en-US" sz="1200" dirty="0"/>
          </a:p>
        </p:txBody>
      </p:sp>
      <p:sp>
        <p:nvSpPr>
          <p:cNvPr id="33" name="Text 27"/>
          <p:cNvSpPr txBox="1"/>
          <p:nvPr/>
        </p:nvSpPr>
        <p:spPr>
          <a:xfrm>
            <a:off x="7458075" y="4762500"/>
            <a:ext cx="4667250" cy="152400"/>
          </a:xfrm>
          <a:prstGeom prst="rect">
            <a:avLst/>
          </a:prstGeom>
          <a:noFill/>
          <a:ln/>
        </p:spPr>
        <p:txBody>
          <a:bodyPr wrap="square" lIns="0" tIns="0" rIns="0" bIns="0" rtlCol="0" anchor="ctr"/>
          <a:lstStyle/>
          <a:p>
            <a:pPr marL="0" indent="0">
              <a:buNone/>
            </a:pPr>
            <a:r>
              <a:rPr lang="en-US" sz="900" dirty="0">
                <a:solidFill>
                  <a:srgbClr val="59666F"/>
                </a:solidFill>
                <a:latin typeface="Calibri" pitchFamily="34" charset="0"/>
                <a:ea typeface="Calibri" pitchFamily="34" charset="-122"/>
                <a:cs typeface="Calibri" pitchFamily="34" charset="-120"/>
              </a:rPr>
              <a:t>Portfolio asset value</a:t>
            </a:r>
            <a:endParaRPr lang="en-US" sz="900" dirty="0"/>
          </a:p>
        </p:txBody>
      </p:sp>
      <p:graphicFrame>
        <p:nvGraphicFramePr>
          <p:cNvPr id="34" name="Cap rate table"/>
          <p:cNvGraphicFramePr>
            <a:graphicFrameLocks noGrp="1"/>
          </p:cNvGraphicFramePr>
          <p:nvPr>
            <p:extLst>
              <p:ext uri="{D42A27DB-BD31-4B8C-83A1-F6EECF244321}">
                <p14:modId xmlns:p14="http://schemas.microsoft.com/office/powerpoint/2010/main" val="1579011935"/>
              </p:ext>
            </p:extLst>
          </p:nvPr>
        </p:nvGraphicFramePr>
        <p:xfrm>
          <a:off x="7458075" y="4972050"/>
          <a:ext cx="4667250" cy="1543050"/>
        </p:xfrm>
        <a:graphic>
          <a:graphicData uri="http://schemas.openxmlformats.org/drawingml/2006/table">
            <a:tbl>
              <a:tblPr/>
              <a:tblGrid>
                <a:gridCol w="266700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tblGrid>
              <a:tr h="257175">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CAP RATE</a:t>
                      </a:r>
                      <a:endParaRPr lang="en-US" sz="1050" dirty="0">
                        <a:latin typeface="Calibri" charset="0"/>
                        <a:ea typeface="Calibri" charset="0"/>
                        <a:cs typeface="Calibri" charset="0"/>
                      </a:endParaRPr>
                    </a:p>
                  </a:txBody>
                  <a:tcPr marL="109728" marR="109728" marT="0" marB="0" anchor="ctr">
                    <a:lnL w="6350" cap="flat" cmpd="sng" algn="ctr">
                      <a:solidFill>
                        <a:srgbClr val="ECEDF0"/>
                      </a:solidFill>
                      <a:prstDash val="solid"/>
                      <a:round/>
                      <a:headEnd type="none" w="med" len="med"/>
                      <a:tailEnd type="none" w="med" len="med"/>
                    </a:lnL>
                    <a:lnR w="6350" cap="flat" cmpd="sng" algn="ctr">
                      <a:solidFill>
                        <a:srgbClr val="ECEDF0"/>
                      </a:solidFill>
                      <a:prstDash val="solid"/>
                      <a:round/>
                      <a:headEnd type="none" w="med" len="med"/>
                      <a:tailEnd type="none" w="med" len="med"/>
                    </a:lnR>
                    <a:lnT w="6350" cap="flat" cmpd="sng" algn="ctr">
                      <a:solidFill>
                        <a:srgbClr val="ECEDF0"/>
                      </a:solidFill>
                      <a:prstDash val="solid"/>
                      <a:round/>
                      <a:headEnd type="none" w="med" len="med"/>
                      <a:tailEnd type="none" w="med" len="med"/>
                    </a:lnT>
                    <a:lnB w="6350" cap="flat" cmpd="sng" algn="ctr">
                      <a:solidFill>
                        <a:srgbClr val="ECEDF0"/>
                      </a:solidFill>
                      <a:prstDash val="solid"/>
                      <a:round/>
                      <a:headEnd type="none" w="med" len="med"/>
                      <a:tailEnd type="none" w="med" len="med"/>
                    </a:lnB>
                    <a:solidFill>
                      <a:srgbClr val="233646"/>
                    </a:solidFill>
                  </a:tcPr>
                </a:tc>
                <a:tc>
                  <a:txBody>
                    <a:bodyPr/>
                    <a:lstStyle/>
                    <a:p>
                      <a:pPr marL="0" indent="0" algn="r">
                        <a:buNone/>
                      </a:pPr>
                      <a:r>
                        <a:rPr lang="en-US" sz="1050" b="1" dirty="0">
                          <a:solidFill>
                            <a:srgbClr val="FFFFFF"/>
                          </a:solidFill>
                          <a:latin typeface="Calibri" pitchFamily="34" charset="0"/>
                          <a:ea typeface="Calibri" pitchFamily="34" charset="-122"/>
                          <a:cs typeface="Calibri" pitchFamily="34" charset="-120"/>
                        </a:rPr>
                        <a:t>ASSET VALUE</a:t>
                      </a:r>
                      <a:endParaRPr lang="en-US" sz="1050" dirty="0">
                        <a:latin typeface="Calibri" charset="0"/>
                        <a:ea typeface="Calibri" charset="0"/>
                        <a:cs typeface="Calibri" charset="0"/>
                      </a:endParaRPr>
                    </a:p>
                  </a:txBody>
                  <a:tcPr marL="109728" marR="109728" marT="0" marB="0" anchor="ctr">
                    <a:lnL w="6350" cap="flat" cmpd="sng" algn="ctr">
                      <a:solidFill>
                        <a:srgbClr val="ECEDF0"/>
                      </a:solidFill>
                      <a:prstDash val="solid"/>
                      <a:round/>
                      <a:headEnd type="none" w="med" len="med"/>
                      <a:tailEnd type="none" w="med" len="med"/>
                    </a:lnL>
                    <a:lnR w="6350" cap="flat" cmpd="sng" algn="ctr">
                      <a:solidFill>
                        <a:srgbClr val="ECEDF0"/>
                      </a:solidFill>
                      <a:prstDash val="solid"/>
                      <a:round/>
                      <a:headEnd type="none" w="med" len="med"/>
                      <a:tailEnd type="none" w="med" len="med"/>
                    </a:lnR>
                    <a:lnT w="6350" cap="flat" cmpd="sng" algn="ctr">
                      <a:solidFill>
                        <a:srgbClr val="ECEDF0"/>
                      </a:solidFill>
                      <a:prstDash val="solid"/>
                      <a:round/>
                      <a:headEnd type="none" w="med" len="med"/>
                      <a:tailEnd type="none" w="med" len="med"/>
                    </a:lnT>
                    <a:lnB w="6350" cap="flat" cmpd="sng" algn="ctr">
                      <a:solidFill>
                        <a:srgbClr val="ECEDF0"/>
                      </a:solidFill>
                      <a:prstDash val="solid"/>
                      <a:round/>
                      <a:headEnd type="none" w="med" len="med"/>
                      <a:tailEnd type="none" w="med" len="med"/>
                    </a:lnB>
                    <a:solidFill>
                      <a:srgbClr val="233646"/>
                    </a:solidFill>
                  </a:tcPr>
                </a:tc>
                <a:extLst>
                  <a:ext uri="{0D108BD9-81ED-4DB2-BD59-A6C34878D82A}">
                    <a16:rowId xmlns:a16="http://schemas.microsoft.com/office/drawing/2014/main" val="10000"/>
                  </a:ext>
                </a:extLst>
              </a:tr>
              <a:tr h="257175">
                <a:tc>
                  <a:txBody>
                    <a:bodyPr/>
                    <a:lstStyle/>
                    <a:p>
                      <a:pPr marL="0" indent="0" algn="l">
                        <a:buNone/>
                      </a:pPr>
                      <a:r>
                        <a:rPr lang="en-US" sz="1050" dirty="0">
                          <a:solidFill>
                            <a:srgbClr val="14202C"/>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109728" marR="109728" marT="0" marB="0" anchor="ctr">
                    <a:lnL w="6350" cap="flat" cmpd="sng" algn="ctr">
                      <a:solidFill>
                        <a:srgbClr val="ECEDF0"/>
                      </a:solidFill>
                      <a:prstDash val="solid"/>
                      <a:round/>
                      <a:headEnd type="none" w="med" len="med"/>
                      <a:tailEnd type="none" w="med" len="med"/>
                    </a:lnL>
                    <a:lnR w="6350" cap="flat" cmpd="sng" algn="ctr">
                      <a:solidFill>
                        <a:srgbClr val="ECEDF0"/>
                      </a:solidFill>
                      <a:prstDash val="solid"/>
                      <a:round/>
                      <a:headEnd type="none" w="med" len="med"/>
                      <a:tailEnd type="none" w="med" len="med"/>
                    </a:lnR>
                    <a:lnT w="6350" cap="flat" cmpd="sng" algn="ctr">
                      <a:solidFill>
                        <a:srgbClr val="ECEDF0"/>
                      </a:solidFill>
                      <a:prstDash val="solid"/>
                      <a:round/>
                      <a:headEnd type="none" w="med" len="med"/>
                      <a:tailEnd type="none" w="med" len="med"/>
                    </a:lnT>
                    <a:lnB w="6350" cap="flat" cmpd="sng" algn="ctr">
                      <a:solidFill>
                        <a:srgbClr val="ECED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4202C"/>
                          </a:solidFill>
                          <a:latin typeface="Calibri" pitchFamily="34" charset="0"/>
                          <a:ea typeface="Calibri" pitchFamily="34" charset="-122"/>
                          <a:cs typeface="Calibri" pitchFamily="34" charset="-120"/>
                        </a:rPr>
                        <a:t>$233.3M</a:t>
                      </a:r>
                      <a:endParaRPr lang="en-US" sz="1050" dirty="0">
                        <a:latin typeface="Calibri" charset="0"/>
                        <a:ea typeface="Calibri" charset="0"/>
                        <a:cs typeface="Calibri" charset="0"/>
                      </a:endParaRPr>
                    </a:p>
                  </a:txBody>
                  <a:tcPr marL="109728" marR="109728" marT="0" marB="0" anchor="ctr">
                    <a:lnL w="6350" cap="flat" cmpd="sng" algn="ctr">
                      <a:solidFill>
                        <a:srgbClr val="ECEDF0"/>
                      </a:solidFill>
                      <a:prstDash val="solid"/>
                      <a:round/>
                      <a:headEnd type="none" w="med" len="med"/>
                      <a:tailEnd type="none" w="med" len="med"/>
                    </a:lnL>
                    <a:lnR w="6350" cap="flat" cmpd="sng" algn="ctr">
                      <a:solidFill>
                        <a:srgbClr val="ECEDF0"/>
                      </a:solidFill>
                      <a:prstDash val="solid"/>
                      <a:round/>
                      <a:headEnd type="none" w="med" len="med"/>
                      <a:tailEnd type="none" w="med" len="med"/>
                    </a:lnR>
                    <a:lnT w="6350" cap="flat" cmpd="sng" algn="ctr">
                      <a:solidFill>
                        <a:srgbClr val="ECEDF0"/>
                      </a:solidFill>
                      <a:prstDash val="solid"/>
                      <a:round/>
                      <a:headEnd type="none" w="med" len="med"/>
                      <a:tailEnd type="none" w="med" len="med"/>
                    </a:lnT>
                    <a:lnB w="6350" cap="flat" cmpd="sng" algn="ctr">
                      <a:solidFill>
                        <a:srgbClr val="ECED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7175">
                <a:tc>
                  <a:txBody>
                    <a:bodyPr/>
                    <a:lstStyle/>
                    <a:p>
                      <a:pPr marL="0" indent="0" algn="l">
                        <a:buNone/>
                      </a:pPr>
                      <a:r>
                        <a:rPr lang="en-US" sz="1050" dirty="0">
                          <a:solidFill>
                            <a:srgbClr val="14202C"/>
                          </a:solidFill>
                          <a:latin typeface="Calibri" pitchFamily="34" charset="0"/>
                          <a:ea typeface="Calibri" pitchFamily="34" charset="-122"/>
                          <a:cs typeface="Calibri" pitchFamily="34" charset="-120"/>
                        </a:rPr>
                        <a:t>5.50%</a:t>
                      </a:r>
                      <a:endParaRPr lang="en-US" sz="1050" dirty="0">
                        <a:latin typeface="Calibri" charset="0"/>
                        <a:ea typeface="Calibri" charset="0"/>
                        <a:cs typeface="Calibri" charset="0"/>
                      </a:endParaRPr>
                    </a:p>
                  </a:txBody>
                  <a:tcPr marL="109728" marR="109728" marT="0" marB="0" anchor="ctr">
                    <a:lnL w="6350" cap="flat" cmpd="sng" algn="ctr">
                      <a:solidFill>
                        <a:srgbClr val="ECEDF0"/>
                      </a:solidFill>
                      <a:prstDash val="solid"/>
                      <a:round/>
                      <a:headEnd type="none" w="med" len="med"/>
                      <a:tailEnd type="none" w="med" len="med"/>
                    </a:lnL>
                    <a:lnR w="6350" cap="flat" cmpd="sng" algn="ctr">
                      <a:solidFill>
                        <a:srgbClr val="ECEDF0"/>
                      </a:solidFill>
                      <a:prstDash val="solid"/>
                      <a:round/>
                      <a:headEnd type="none" w="med" len="med"/>
                      <a:tailEnd type="none" w="med" len="med"/>
                    </a:lnR>
                    <a:lnT w="6350" cap="flat" cmpd="sng" algn="ctr">
                      <a:solidFill>
                        <a:srgbClr val="ECEDF0"/>
                      </a:solidFill>
                      <a:prstDash val="solid"/>
                      <a:round/>
                      <a:headEnd type="none" w="med" len="med"/>
                      <a:tailEnd type="none" w="med" len="med"/>
                    </a:lnT>
                    <a:lnB w="6350" cap="flat" cmpd="sng" algn="ctr">
                      <a:solidFill>
                        <a:srgbClr val="ECED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4202C"/>
                          </a:solidFill>
                          <a:latin typeface="Calibri" pitchFamily="34" charset="0"/>
                          <a:ea typeface="Calibri" pitchFamily="34" charset="-122"/>
                          <a:cs typeface="Calibri" pitchFamily="34" charset="-120"/>
                        </a:rPr>
                        <a:t>$212.1M</a:t>
                      </a:r>
                      <a:endParaRPr lang="en-US" sz="1050" dirty="0">
                        <a:latin typeface="Calibri" charset="0"/>
                        <a:ea typeface="Calibri" charset="0"/>
                        <a:cs typeface="Calibri" charset="0"/>
                      </a:endParaRPr>
                    </a:p>
                  </a:txBody>
                  <a:tcPr marL="109728" marR="109728" marT="0" marB="0" anchor="ctr">
                    <a:lnL w="6350" cap="flat" cmpd="sng" algn="ctr">
                      <a:solidFill>
                        <a:srgbClr val="ECEDF0"/>
                      </a:solidFill>
                      <a:prstDash val="solid"/>
                      <a:round/>
                      <a:headEnd type="none" w="med" len="med"/>
                      <a:tailEnd type="none" w="med" len="med"/>
                    </a:lnL>
                    <a:lnR w="6350" cap="flat" cmpd="sng" algn="ctr">
                      <a:solidFill>
                        <a:srgbClr val="ECEDF0"/>
                      </a:solidFill>
                      <a:prstDash val="solid"/>
                      <a:round/>
                      <a:headEnd type="none" w="med" len="med"/>
                      <a:tailEnd type="none" w="med" len="med"/>
                    </a:lnR>
                    <a:lnT w="6350" cap="flat" cmpd="sng" algn="ctr">
                      <a:solidFill>
                        <a:srgbClr val="ECEDF0"/>
                      </a:solidFill>
                      <a:prstDash val="solid"/>
                      <a:round/>
                      <a:headEnd type="none" w="med" len="med"/>
                      <a:tailEnd type="none" w="med" len="med"/>
                    </a:lnT>
                    <a:lnB w="6350" cap="flat" cmpd="sng" algn="ctr">
                      <a:solidFill>
                        <a:srgbClr val="ECED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57175">
                <a:tc>
                  <a:txBody>
                    <a:bodyPr/>
                    <a:lstStyle/>
                    <a:p>
                      <a:pPr marL="0" indent="0" algn="l">
                        <a:buNone/>
                      </a:pPr>
                      <a:r>
                        <a:rPr lang="en-US" sz="1050" b="1" dirty="0">
                          <a:solidFill>
                            <a:srgbClr val="14202C"/>
                          </a:solidFill>
                          <a:latin typeface="Calibri" pitchFamily="34" charset="0"/>
                          <a:ea typeface="Calibri" pitchFamily="34" charset="-122"/>
                          <a:cs typeface="Calibri" pitchFamily="34" charset="-120"/>
                        </a:rPr>
                        <a:t>6.00%</a:t>
                      </a:r>
                      <a:endParaRPr lang="en-US" sz="1050" dirty="0">
                        <a:latin typeface="Calibri" charset="0"/>
                        <a:ea typeface="Calibri" charset="0"/>
                        <a:cs typeface="Calibri" charset="0"/>
                      </a:endParaRPr>
                    </a:p>
                  </a:txBody>
                  <a:tcPr marL="109728" marR="109728" marT="0" marB="0" anchor="ctr">
                    <a:lnL w="6350" cap="flat" cmpd="sng" algn="ctr">
                      <a:solidFill>
                        <a:srgbClr val="ECEDF0"/>
                      </a:solidFill>
                      <a:prstDash val="solid"/>
                      <a:round/>
                      <a:headEnd type="none" w="med" len="med"/>
                      <a:tailEnd type="none" w="med" len="med"/>
                    </a:lnL>
                    <a:lnR w="6350" cap="flat" cmpd="sng" algn="ctr">
                      <a:solidFill>
                        <a:srgbClr val="ECEDF0"/>
                      </a:solidFill>
                      <a:prstDash val="solid"/>
                      <a:round/>
                      <a:headEnd type="none" w="med" len="med"/>
                      <a:tailEnd type="none" w="med" len="med"/>
                    </a:lnR>
                    <a:lnT w="6350" cap="flat" cmpd="sng" algn="ctr">
                      <a:solidFill>
                        <a:srgbClr val="ECEDF0"/>
                      </a:solidFill>
                      <a:prstDash val="solid"/>
                      <a:round/>
                      <a:headEnd type="none" w="med" len="med"/>
                      <a:tailEnd type="none" w="med" len="med"/>
                    </a:lnT>
                    <a:lnB w="6350" cap="flat" cmpd="sng" algn="ctr">
                      <a:solidFill>
                        <a:srgbClr val="ECEDF0"/>
                      </a:solidFill>
                      <a:prstDash val="solid"/>
                      <a:round/>
                      <a:headEnd type="none" w="med" len="med"/>
                      <a:tailEnd type="none" w="med" len="med"/>
                    </a:lnB>
                    <a:solidFill>
                      <a:srgbClr val="FDF2C4"/>
                    </a:solidFill>
                  </a:tcPr>
                </a:tc>
                <a:tc>
                  <a:txBody>
                    <a:bodyPr/>
                    <a:lstStyle/>
                    <a:p>
                      <a:pPr marL="0" indent="0" algn="r">
                        <a:buNone/>
                      </a:pPr>
                      <a:r>
                        <a:rPr lang="en-US" sz="1050" b="1" dirty="0">
                          <a:solidFill>
                            <a:srgbClr val="14202C"/>
                          </a:solidFill>
                          <a:latin typeface="Calibri" pitchFamily="34" charset="0"/>
                          <a:ea typeface="Calibri" pitchFamily="34" charset="-122"/>
                          <a:cs typeface="Calibri" pitchFamily="34" charset="-120"/>
                        </a:rPr>
                        <a:t>$194.4M</a:t>
                      </a:r>
                      <a:endParaRPr lang="en-US" sz="1050" dirty="0">
                        <a:latin typeface="Calibri" charset="0"/>
                        <a:ea typeface="Calibri" charset="0"/>
                        <a:cs typeface="Calibri" charset="0"/>
                      </a:endParaRPr>
                    </a:p>
                  </a:txBody>
                  <a:tcPr marL="109728" marR="109728" marT="0" marB="0" anchor="ctr">
                    <a:lnL w="6350" cap="flat" cmpd="sng" algn="ctr">
                      <a:solidFill>
                        <a:srgbClr val="ECEDF0"/>
                      </a:solidFill>
                      <a:prstDash val="solid"/>
                      <a:round/>
                      <a:headEnd type="none" w="med" len="med"/>
                      <a:tailEnd type="none" w="med" len="med"/>
                    </a:lnL>
                    <a:lnR w="6350" cap="flat" cmpd="sng" algn="ctr">
                      <a:solidFill>
                        <a:srgbClr val="ECEDF0"/>
                      </a:solidFill>
                      <a:prstDash val="solid"/>
                      <a:round/>
                      <a:headEnd type="none" w="med" len="med"/>
                      <a:tailEnd type="none" w="med" len="med"/>
                    </a:lnR>
                    <a:lnT w="6350" cap="flat" cmpd="sng" algn="ctr">
                      <a:solidFill>
                        <a:srgbClr val="ECEDF0"/>
                      </a:solidFill>
                      <a:prstDash val="solid"/>
                      <a:round/>
                      <a:headEnd type="none" w="med" len="med"/>
                      <a:tailEnd type="none" w="med" len="med"/>
                    </a:lnT>
                    <a:lnB w="6350" cap="flat" cmpd="sng" algn="ctr">
                      <a:solidFill>
                        <a:srgbClr val="ECEDF0"/>
                      </a:solidFill>
                      <a:prstDash val="solid"/>
                      <a:round/>
                      <a:headEnd type="none" w="med" len="med"/>
                      <a:tailEnd type="none" w="med" len="med"/>
                    </a:lnB>
                    <a:solidFill>
                      <a:srgbClr val="FDF2C4"/>
                    </a:solidFill>
                  </a:tcPr>
                </a:tc>
                <a:extLst>
                  <a:ext uri="{0D108BD9-81ED-4DB2-BD59-A6C34878D82A}">
                    <a16:rowId xmlns:a16="http://schemas.microsoft.com/office/drawing/2014/main" val="10003"/>
                  </a:ext>
                </a:extLst>
              </a:tr>
              <a:tr h="257175">
                <a:tc>
                  <a:txBody>
                    <a:bodyPr/>
                    <a:lstStyle/>
                    <a:p>
                      <a:pPr marL="0" indent="0" algn="l">
                        <a:buNone/>
                      </a:pPr>
                      <a:r>
                        <a:rPr lang="en-US" sz="1050" dirty="0">
                          <a:solidFill>
                            <a:srgbClr val="14202C"/>
                          </a:solidFill>
                          <a:latin typeface="Calibri" pitchFamily="34" charset="0"/>
                          <a:ea typeface="Calibri" pitchFamily="34" charset="-122"/>
                          <a:cs typeface="Calibri" pitchFamily="34" charset="-120"/>
                        </a:rPr>
                        <a:t>6.50%</a:t>
                      </a:r>
                      <a:endParaRPr lang="en-US" sz="1050" dirty="0">
                        <a:latin typeface="Calibri" charset="0"/>
                        <a:ea typeface="Calibri" charset="0"/>
                        <a:cs typeface="Calibri" charset="0"/>
                      </a:endParaRPr>
                    </a:p>
                  </a:txBody>
                  <a:tcPr marL="109728" marR="109728" marT="0" marB="0" anchor="ctr">
                    <a:lnL w="6350" cap="flat" cmpd="sng" algn="ctr">
                      <a:solidFill>
                        <a:srgbClr val="ECEDF0"/>
                      </a:solidFill>
                      <a:prstDash val="solid"/>
                      <a:round/>
                      <a:headEnd type="none" w="med" len="med"/>
                      <a:tailEnd type="none" w="med" len="med"/>
                    </a:lnL>
                    <a:lnR w="6350" cap="flat" cmpd="sng" algn="ctr">
                      <a:solidFill>
                        <a:srgbClr val="ECEDF0"/>
                      </a:solidFill>
                      <a:prstDash val="solid"/>
                      <a:round/>
                      <a:headEnd type="none" w="med" len="med"/>
                      <a:tailEnd type="none" w="med" len="med"/>
                    </a:lnR>
                    <a:lnT w="6350" cap="flat" cmpd="sng" algn="ctr">
                      <a:solidFill>
                        <a:srgbClr val="ECEDF0"/>
                      </a:solidFill>
                      <a:prstDash val="solid"/>
                      <a:round/>
                      <a:headEnd type="none" w="med" len="med"/>
                      <a:tailEnd type="none" w="med" len="med"/>
                    </a:lnT>
                    <a:lnB w="6350" cap="flat" cmpd="sng" algn="ctr">
                      <a:solidFill>
                        <a:srgbClr val="ECED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4202C"/>
                          </a:solidFill>
                          <a:latin typeface="Calibri" pitchFamily="34" charset="0"/>
                          <a:ea typeface="Calibri" pitchFamily="34" charset="-122"/>
                          <a:cs typeface="Calibri" pitchFamily="34" charset="-120"/>
                        </a:rPr>
                        <a:t>$179.5M</a:t>
                      </a:r>
                      <a:endParaRPr lang="en-US" sz="1050" dirty="0">
                        <a:latin typeface="Calibri" charset="0"/>
                        <a:ea typeface="Calibri" charset="0"/>
                        <a:cs typeface="Calibri" charset="0"/>
                      </a:endParaRPr>
                    </a:p>
                  </a:txBody>
                  <a:tcPr marL="109728" marR="109728" marT="0" marB="0" anchor="ctr">
                    <a:lnL w="6350" cap="flat" cmpd="sng" algn="ctr">
                      <a:solidFill>
                        <a:srgbClr val="ECEDF0"/>
                      </a:solidFill>
                      <a:prstDash val="solid"/>
                      <a:round/>
                      <a:headEnd type="none" w="med" len="med"/>
                      <a:tailEnd type="none" w="med" len="med"/>
                    </a:lnL>
                    <a:lnR w="6350" cap="flat" cmpd="sng" algn="ctr">
                      <a:solidFill>
                        <a:srgbClr val="ECEDF0"/>
                      </a:solidFill>
                      <a:prstDash val="solid"/>
                      <a:round/>
                      <a:headEnd type="none" w="med" len="med"/>
                      <a:tailEnd type="none" w="med" len="med"/>
                    </a:lnR>
                    <a:lnT w="6350" cap="flat" cmpd="sng" algn="ctr">
                      <a:solidFill>
                        <a:srgbClr val="ECEDF0"/>
                      </a:solidFill>
                      <a:prstDash val="solid"/>
                      <a:round/>
                      <a:headEnd type="none" w="med" len="med"/>
                      <a:tailEnd type="none" w="med" len="med"/>
                    </a:lnT>
                    <a:lnB w="6350" cap="flat" cmpd="sng" algn="ctr">
                      <a:solidFill>
                        <a:srgbClr val="ECED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57175">
                <a:tc>
                  <a:txBody>
                    <a:bodyPr/>
                    <a:lstStyle/>
                    <a:p>
                      <a:pPr marL="0" indent="0" algn="l">
                        <a:buNone/>
                      </a:pPr>
                      <a:r>
                        <a:rPr lang="en-US" sz="1050" dirty="0">
                          <a:solidFill>
                            <a:srgbClr val="14202C"/>
                          </a:solidFill>
                          <a:latin typeface="Calibri" pitchFamily="34" charset="0"/>
                          <a:ea typeface="Calibri" pitchFamily="34" charset="-122"/>
                          <a:cs typeface="Calibri" pitchFamily="34" charset="-120"/>
                        </a:rPr>
                        <a:t>7.00%</a:t>
                      </a:r>
                      <a:endParaRPr lang="en-US" sz="1050" dirty="0">
                        <a:latin typeface="Calibri" charset="0"/>
                        <a:ea typeface="Calibri" charset="0"/>
                        <a:cs typeface="Calibri" charset="0"/>
                      </a:endParaRPr>
                    </a:p>
                  </a:txBody>
                  <a:tcPr marL="109728" marR="109728" marT="0" marB="0" anchor="ctr">
                    <a:lnL w="6350" cap="flat" cmpd="sng" algn="ctr">
                      <a:solidFill>
                        <a:srgbClr val="ECEDF0"/>
                      </a:solidFill>
                      <a:prstDash val="solid"/>
                      <a:round/>
                      <a:headEnd type="none" w="med" len="med"/>
                      <a:tailEnd type="none" w="med" len="med"/>
                    </a:lnL>
                    <a:lnR w="6350" cap="flat" cmpd="sng" algn="ctr">
                      <a:solidFill>
                        <a:srgbClr val="ECEDF0"/>
                      </a:solidFill>
                      <a:prstDash val="solid"/>
                      <a:round/>
                      <a:headEnd type="none" w="med" len="med"/>
                      <a:tailEnd type="none" w="med" len="med"/>
                    </a:lnR>
                    <a:lnT w="6350" cap="flat" cmpd="sng" algn="ctr">
                      <a:solidFill>
                        <a:srgbClr val="ECEDF0"/>
                      </a:solidFill>
                      <a:prstDash val="solid"/>
                      <a:round/>
                      <a:headEnd type="none" w="med" len="med"/>
                      <a:tailEnd type="none" w="med" len="med"/>
                    </a:lnT>
                    <a:lnB w="6350" cap="flat" cmpd="sng" algn="ctr">
                      <a:solidFill>
                        <a:srgbClr val="ECEDF0"/>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4202C"/>
                          </a:solidFill>
                          <a:latin typeface="Calibri" pitchFamily="34" charset="0"/>
                          <a:ea typeface="Calibri" pitchFamily="34" charset="-122"/>
                          <a:cs typeface="Calibri" pitchFamily="34" charset="-120"/>
                        </a:rPr>
                        <a:t>$166.6M</a:t>
                      </a:r>
                      <a:endParaRPr lang="en-US" sz="1050" dirty="0">
                        <a:latin typeface="Calibri" charset="0"/>
                        <a:ea typeface="Calibri" charset="0"/>
                        <a:cs typeface="Calibri" charset="0"/>
                      </a:endParaRPr>
                    </a:p>
                  </a:txBody>
                  <a:tcPr marL="109728" marR="109728" marT="0" marB="0" anchor="ctr">
                    <a:lnL w="6350" cap="flat" cmpd="sng" algn="ctr">
                      <a:solidFill>
                        <a:srgbClr val="ECEDF0"/>
                      </a:solidFill>
                      <a:prstDash val="solid"/>
                      <a:round/>
                      <a:headEnd type="none" w="med" len="med"/>
                      <a:tailEnd type="none" w="med" len="med"/>
                    </a:lnL>
                    <a:lnR w="6350" cap="flat" cmpd="sng" algn="ctr">
                      <a:solidFill>
                        <a:srgbClr val="ECEDF0"/>
                      </a:solidFill>
                      <a:prstDash val="solid"/>
                      <a:round/>
                      <a:headEnd type="none" w="med" len="med"/>
                      <a:tailEnd type="none" w="med" len="med"/>
                    </a:lnR>
                    <a:lnT w="6350" cap="flat" cmpd="sng" algn="ctr">
                      <a:solidFill>
                        <a:srgbClr val="ECEDF0"/>
                      </a:solidFill>
                      <a:prstDash val="solid"/>
                      <a:round/>
                      <a:headEnd type="none" w="med" len="med"/>
                      <a:tailEnd type="none" w="med" len="med"/>
                    </a:lnT>
                    <a:lnB w="6350" cap="flat" cmpd="sng" algn="ctr">
                      <a:solidFill>
                        <a:srgbClr val="ECED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5" name="Shape 28"/>
          <p:cNvSpPr/>
          <p:nvPr/>
        </p:nvSpPr>
        <p:spPr>
          <a:xfrm>
            <a:off x="200025" y="6724650"/>
            <a:ext cx="11925300" cy="0"/>
          </a:xfrm>
          <a:prstGeom prst="line">
            <a:avLst/>
          </a:prstGeom>
          <a:noFill/>
          <a:ln w="12700">
            <a:solidFill>
              <a:srgbClr val="D9DDE2"/>
            </a:solidFill>
            <a:prstDash val="solid"/>
          </a:ln>
        </p:spPr>
        <p:txBody>
          <a:bodyPr/>
          <a:lstStyle/>
          <a:p>
            <a:endParaRPr lang="en-US"/>
          </a:p>
        </p:txBody>
      </p:sp>
      <p:sp>
        <p:nvSpPr>
          <p:cNvPr id="36" name="Text 29"/>
          <p:cNvSpPr txBox="1"/>
          <p:nvPr/>
        </p:nvSpPr>
        <p:spPr>
          <a:xfrm>
            <a:off x="238125" y="6762750"/>
            <a:ext cx="1428750" cy="247650"/>
          </a:xfrm>
          <a:prstGeom prst="rect">
            <a:avLst/>
          </a:prstGeom>
          <a:noFill/>
          <a:ln/>
        </p:spPr>
        <p:txBody>
          <a:bodyPr wrap="square" lIns="0" tIns="0" rIns="0" bIns="0" rtlCol="0" anchor="ctr"/>
          <a:lstStyle/>
          <a:p>
            <a:pPr marL="0" indent="0">
              <a:buNone/>
            </a:pPr>
            <a:r>
              <a:rPr lang="en-US" sz="850" b="1" dirty="0">
                <a:solidFill>
                  <a:srgbClr val="14202C"/>
                </a:solidFill>
                <a:latin typeface="Calibri" pitchFamily="34" charset="0"/>
                <a:ea typeface="Calibri" pitchFamily="34" charset="-122"/>
                <a:cs typeface="Calibri" pitchFamily="34" charset="-120"/>
              </a:rPr>
              <a:t>KEY ASSUMPTIONS</a:t>
            </a:r>
            <a:endParaRPr lang="en-US" sz="850" dirty="0"/>
          </a:p>
        </p:txBody>
      </p:sp>
      <p:sp>
        <p:nvSpPr>
          <p:cNvPr id="37" name="Text 30"/>
          <p:cNvSpPr txBox="1"/>
          <p:nvPr/>
        </p:nvSpPr>
        <p:spPr>
          <a:xfrm>
            <a:off x="1905000" y="6762750"/>
            <a:ext cx="7067550" cy="247650"/>
          </a:xfrm>
          <a:prstGeom prst="rect">
            <a:avLst/>
          </a:prstGeom>
          <a:noFill/>
          <a:ln/>
        </p:spPr>
        <p:txBody>
          <a:bodyPr wrap="square" lIns="0" tIns="0" rIns="0" bIns="0" rtlCol="0" anchor="ctr"/>
          <a:lstStyle/>
          <a:p>
            <a:pPr marL="0" indent="0">
              <a:buNone/>
            </a:pPr>
            <a:r>
              <a:rPr lang="en-US" sz="950" b="1" dirty="0">
                <a:solidFill>
                  <a:srgbClr val="14202C"/>
                </a:solidFill>
                <a:latin typeface="Calibri" pitchFamily="34" charset="0"/>
                <a:ea typeface="Calibri" pitchFamily="34" charset="-122"/>
                <a:cs typeface="Calibri" pitchFamily="34" charset="-120"/>
              </a:rPr>
              <a:t>25-year term · 2% annual escalations · BESS $100K/year per eligible site</a:t>
            </a:r>
            <a:endParaRPr lang="en-US" sz="950" dirty="0"/>
          </a:p>
        </p:txBody>
      </p:sp>
      <p:sp>
        <p:nvSpPr>
          <p:cNvPr id="38" name="Next steps"/>
          <p:cNvSpPr/>
          <p:nvPr/>
        </p:nvSpPr>
        <p:spPr>
          <a:xfrm>
            <a:off x="200025" y="7067550"/>
            <a:ext cx="11925300" cy="666750"/>
          </a:xfrm>
          <a:prstGeom prst="rect">
            <a:avLst/>
          </a:prstGeom>
          <a:solidFill>
            <a:srgbClr val="233646"/>
          </a:solidFill>
          <a:ln w="12700">
            <a:solidFill>
              <a:srgbClr val="233646"/>
            </a:solidFill>
            <a:prstDash val="solid"/>
          </a:ln>
        </p:spPr>
        <p:txBody>
          <a:bodyPr/>
          <a:lstStyle/>
          <a:p>
            <a:endParaRPr lang="en-US"/>
          </a:p>
        </p:txBody>
      </p:sp>
      <p:sp>
        <p:nvSpPr>
          <p:cNvPr id="39" name="Next steps accent"/>
          <p:cNvSpPr/>
          <p:nvPr/>
        </p:nvSpPr>
        <p:spPr>
          <a:xfrm>
            <a:off x="200025" y="7067550"/>
            <a:ext cx="57150" cy="666750"/>
          </a:xfrm>
          <a:prstGeom prst="rect">
            <a:avLst/>
          </a:prstGeom>
          <a:solidFill>
            <a:srgbClr val="F2C200"/>
          </a:solidFill>
          <a:ln w="12700">
            <a:solidFill>
              <a:srgbClr val="F2C200"/>
            </a:solidFill>
            <a:prstDash val="solid"/>
          </a:ln>
        </p:spPr>
        <p:txBody>
          <a:bodyPr/>
          <a:lstStyle/>
          <a:p>
            <a:endParaRPr lang="en-US"/>
          </a:p>
        </p:txBody>
      </p:sp>
      <p:sp>
        <p:nvSpPr>
          <p:cNvPr id="40" name="Text 33"/>
          <p:cNvSpPr txBox="1"/>
          <p:nvPr/>
        </p:nvSpPr>
        <p:spPr>
          <a:xfrm>
            <a:off x="523875" y="7067550"/>
            <a:ext cx="1428750" cy="666750"/>
          </a:xfrm>
          <a:prstGeom prst="rect">
            <a:avLst/>
          </a:prstGeom>
          <a:noFill/>
          <a:ln/>
        </p:spPr>
        <p:txBody>
          <a:bodyPr wrap="square" lIns="0" tIns="0" rIns="0" bIns="0" rtlCol="0" anchor="ctr"/>
          <a:lstStyle/>
          <a:p>
            <a:pPr marL="0" indent="0">
              <a:buNone/>
            </a:pPr>
            <a:r>
              <a:rPr lang="en-US" sz="1100" b="1" dirty="0">
                <a:solidFill>
                  <a:srgbClr val="F2C200"/>
                </a:solidFill>
                <a:latin typeface="Calibri" pitchFamily="34" charset="0"/>
                <a:ea typeface="Calibri" pitchFamily="34" charset="-122"/>
                <a:cs typeface="Calibri" pitchFamily="34" charset="-120"/>
              </a:rPr>
              <a:t>NEXT STEPS</a:t>
            </a:r>
            <a:endParaRPr lang="en-US" sz="1100" dirty="0"/>
          </a:p>
        </p:txBody>
      </p:sp>
      <p:sp>
        <p:nvSpPr>
          <p:cNvPr id="41" name="Text 34"/>
          <p:cNvSpPr txBox="1"/>
          <p:nvPr/>
        </p:nvSpPr>
        <p:spPr>
          <a:xfrm>
            <a:off x="1952625" y="7143750"/>
            <a:ext cx="9906000" cy="20955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Validate site feasibility, interconnection and lease terms</a:t>
            </a:r>
            <a:endParaRPr lang="en-US" sz="1050" dirty="0"/>
          </a:p>
        </p:txBody>
      </p:sp>
      <p:sp>
        <p:nvSpPr>
          <p:cNvPr id="42" name="Text 35"/>
          <p:cNvSpPr txBox="1"/>
          <p:nvPr/>
        </p:nvSpPr>
        <p:spPr>
          <a:xfrm>
            <a:off x="1952625" y="7353300"/>
            <a:ext cx="10001250" cy="3048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Contact Adam Simensky | Adam.Simensky@SolarKal.com for the property-level analysis</a:t>
            </a:r>
            <a:endParaRPr lang="en-US" sz="1600" dirty="0"/>
          </a:p>
        </p:txBody>
      </p:sp>
      <p:sp>
        <p:nvSpPr>
          <p:cNvPr id="43" name="Text 36"/>
          <p:cNvSpPr txBox="1"/>
          <p:nvPr/>
        </p:nvSpPr>
        <p:spPr>
          <a:xfrm>
            <a:off x="200025" y="7810500"/>
            <a:ext cx="11925300" cy="419100"/>
          </a:xfrm>
          <a:prstGeom prst="rect">
            <a:avLst/>
          </a:prstGeom>
          <a:noFill/>
          <a:ln/>
        </p:spPr>
        <p:txBody>
          <a:bodyPr wrap="square" lIns="0" tIns="0" rIns="0" bIns="0" rtlCol="0" anchor="t"/>
          <a:lstStyle/>
          <a:p>
            <a:pPr marL="0" indent="0">
              <a:buNone/>
            </a:pPr>
            <a:r>
              <a:rPr lang="en-US" sz="750" dirty="0">
                <a:solidFill>
                  <a:srgbClr val="6B7782"/>
                </a:solidFill>
                <a:latin typeface="Calibri" pitchFamily="34" charset="0"/>
                <a:ea typeface="Calibri" pitchFamily="34" charset="-122"/>
                <a:cs typeface="Calibri" pitchFamily="34" charset="-120"/>
              </a:rPr>
              <a:t>Preliminary screening estimates for discussion purposes only. Solar values reflect midpoint estimates from SolarKal's current market model, with system size estimated at one kW per 100 sq ft of building GLA; usable roof area is subject to site confirmation. BESS assumes $100,000/year for each of the 31 sites identified as eligible, over a 25-year term with no replacement cost modeled. Asset value is annual roof or ground lease rent divided by a 6.0% cap rate. Actual economics depend on site conditions, interconnection, market rules, incentives, lease structure and final diligence.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368</Words>
  <Application>Microsoft Office PowerPoint</Application>
  <PresentationFormat>Custom</PresentationFormat>
  <Paragraphs>84</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Bridge Industrial Solar &amp; Battery One-Pager</dc:title>
  <dc:subject>PptxGenJS Presentation</dc:subject>
  <dc:creator>PptxGenJS</dc:creator>
  <cp:lastModifiedBy>Manikyalarao Poduri</cp:lastModifiedBy>
  <cp:revision>2</cp:revision>
  <dcterms:created xsi:type="dcterms:W3CDTF">2026-10-14T22:29:40Z</dcterms:created>
  <dcterms:modified xsi:type="dcterms:W3CDTF">2026-10-14T22:31:32Z</dcterms:modified>
</cp:coreProperties>
</file>